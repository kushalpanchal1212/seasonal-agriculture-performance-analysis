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3"/>
  </p:notesMasterIdLst>
  <p:handoutMasterIdLst>
    <p:handoutMasterId r:id="rId24"/>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9" r:id="rId17"/>
    <p:sldId id="350" r:id="rId18"/>
    <p:sldId id="341" r:id="rId19"/>
    <p:sldId id="342" r:id="rId20"/>
    <p:sldId id="343" r:id="rId21"/>
    <p:sldId id="30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95" d="100"/>
          <a:sy n="95" d="100"/>
        </p:scale>
        <p:origin x="11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KushalPanchal1212/CAR-DEKHO-USED-CAR-DATA-ANALYSIS-PROJECT.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88097" y="3908012"/>
            <a:ext cx="6014358" cy="861497"/>
          </a:xfrm>
        </p:spPr>
        <p:txBody>
          <a:bodyPr vert="horz" lIns="91440" tIns="45720" rIns="91440" bIns="45720" rtlCol="0" anchor="t">
            <a:normAutofit/>
          </a:bodyPr>
          <a:lstStyle/>
          <a:p>
            <a:pPr algn="r"/>
            <a:r>
              <a:rPr lang="en-US" b="0" dirty="0">
                <a:solidFill>
                  <a:schemeClr val="tx1"/>
                </a:solidFill>
              </a:rPr>
              <a:t>Kushal. B. Panchal</a:t>
            </a:r>
            <a:endParaRPr lang="en-IN" b="0" dirty="0">
              <a:solidFill>
                <a:schemeClr val="tx1"/>
              </a:solidFill>
            </a:endParaRPr>
          </a:p>
          <a:p>
            <a:pPr algn="r"/>
            <a:r>
              <a:rPr lang="en-US" b="0" dirty="0">
                <a:solidFill>
                  <a:schemeClr val="tx1"/>
                </a:solidFill>
              </a:rPr>
              <a:t>K J Somaiya Institute Of Technology </a:t>
            </a:r>
            <a:endParaRPr lang="en-IN" b="0" dirty="0">
              <a:solidFill>
                <a:schemeClr val="tx1"/>
              </a:solidFill>
            </a:endParaRPr>
          </a:p>
          <a:p>
            <a:pPr algn="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69537" y="2643879"/>
            <a:ext cx="10129495" cy="630207"/>
          </a:xfrm>
        </p:spPr>
        <p:txBody>
          <a:bodyPr>
            <a:noAutofit/>
          </a:bodyPr>
          <a:lstStyle/>
          <a:p>
            <a:r>
              <a:rPr lang="en-GB" sz="3200" dirty="0"/>
              <a:t>Project Title - </a:t>
            </a:r>
            <a:r>
              <a:rPr lang="en-IN" sz="3200" dirty="0"/>
              <a:t>Seasonal Agriculture Performance Analysis -  A Data-Driven Approach</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769509"/>
            <a:ext cx="5082447" cy="369332"/>
          </a:xfrm>
          <a:prstGeom prst="rect">
            <a:avLst/>
          </a:prstGeom>
          <a:noFill/>
        </p:spPr>
        <p:txBody>
          <a:bodyPr wrap="square" rtlCol="0">
            <a:spAutoFit/>
          </a:bodyPr>
          <a:lstStyle/>
          <a:p>
            <a:r>
              <a:rPr lang="en-US" b="1" dirty="0"/>
              <a:t>AICTE STU ID :</a:t>
            </a:r>
            <a:r>
              <a:rPr lang="en-IN" dirty="0"/>
              <a:t> STU6a43f00388ac21782837251 </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829912" y="2252546"/>
            <a:ext cx="665373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1A541A75-476A-8D8B-329B-BF34E0925207}"/>
              </a:ext>
            </a:extLst>
          </p:cNvPr>
          <p:cNvSpPr txBox="1"/>
          <p:nvPr/>
        </p:nvSpPr>
        <p:spPr>
          <a:xfrm>
            <a:off x="467359" y="2237874"/>
            <a:ext cx="8654715" cy="3970318"/>
          </a:xfrm>
          <a:prstGeom prst="rect">
            <a:avLst/>
          </a:prstGeom>
          <a:noFill/>
        </p:spPr>
        <p:txBody>
          <a:bodyPr wrap="square" rtlCol="0">
            <a:spAutoFit/>
          </a:bodyPr>
          <a:lstStyle/>
          <a:p>
            <a:r>
              <a:rPr lang="en-IN" dirty="0"/>
              <a:t>This project focuses on analysing </a:t>
            </a:r>
            <a:r>
              <a:rPr lang="en-IN" b="1" dirty="0"/>
              <a:t>seasonal agricultural performance data</a:t>
            </a:r>
            <a:r>
              <a:rPr lang="en-IN" dirty="0"/>
              <a:t> using data analysis and visualization techniques. The dataset contains information such as farm location (state, district), crop type, season, farm area, rainfall, temperature, humidity, soil properties, fertilizer and pesticide usage, seed quality, yield, production, market price, cost, revenue, profit, water usage, and disease/pest risk. The analysis explores relationships between these variables and examines how agricultural productivity and profitability vary across different seasons. Techniques such as data cleaning, descriptive statistics, distribution analysis, correlation heatmaps, box plots, and scatter plots were applied to investigate crop-specific performance, environmental influences, resource efficiency, and seasonal outcomes. The project helps stakeholders understand seasonal patterns, identify key factors influencing yield and profit, and derive insights for better crop planning, resource management, and policy support.</a:t>
            </a:r>
          </a:p>
          <a:p>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62500" lnSpcReduction="20000"/>
          </a:bodyPr>
          <a:lstStyle/>
          <a:p>
            <a:pPr lvl="0"/>
            <a:r>
              <a:rPr lang="en-IN" sz="3600" b="1" dirty="0"/>
              <a:t>Farmers &amp; Communities</a:t>
            </a:r>
            <a:r>
              <a:rPr lang="en-IN" sz="3600" dirty="0"/>
              <a:t> → Understand seasonal yield/resource variations; plan practices effectively.</a:t>
            </a:r>
          </a:p>
          <a:p>
            <a:pPr lvl="0"/>
            <a:r>
              <a:rPr lang="en-IN" sz="3600" b="1" dirty="0"/>
              <a:t>Planners &amp; Policymakers</a:t>
            </a:r>
            <a:r>
              <a:rPr lang="en-IN" sz="3600" dirty="0"/>
              <a:t> → Design evidence-based strategies; support sustainable agriculture.</a:t>
            </a:r>
          </a:p>
          <a:p>
            <a:pPr lvl="0"/>
            <a:r>
              <a:rPr lang="en-IN" sz="3600" b="1" dirty="0"/>
              <a:t>Researchers &amp; Analysts</a:t>
            </a:r>
            <a:r>
              <a:rPr lang="en-IN" sz="3600" dirty="0"/>
              <a:t> → Explore datasets; identify seasonal trends and relationships.</a:t>
            </a:r>
          </a:p>
          <a:p>
            <a:pPr lvl="0"/>
            <a:r>
              <a:rPr lang="en-IN" sz="3600" b="1" dirty="0"/>
              <a:t>Agri-Business &amp; Supply Chain</a:t>
            </a:r>
            <a:r>
              <a:rPr lang="en-IN" sz="3600" dirty="0"/>
              <a:t> → Anticipate production changes; optimize resources and market planning.</a:t>
            </a:r>
          </a:p>
          <a:p>
            <a:pPr lvl="0"/>
            <a:r>
              <a:rPr lang="en-IN" sz="3600" b="1" dirty="0"/>
              <a:t>Students &amp; Educators</a:t>
            </a:r>
            <a:r>
              <a:rPr lang="en-IN" sz="3600" dirty="0"/>
              <a:t> → Gain hands-on analytics experience; apply statistical/visualization techniques in agriculture.</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272933" y="1315059"/>
            <a:ext cx="9027702" cy="5243448"/>
          </a:xfrm>
        </p:spPr>
        <p:txBody>
          <a:bodyPr>
            <a:normAutofit fontScale="85000" lnSpcReduction="10000"/>
          </a:bodyPr>
          <a:lstStyle/>
          <a:p>
            <a:pPr lvl="0"/>
            <a:r>
              <a:rPr lang="en-IN" b="1" dirty="0"/>
              <a:t>Python</a:t>
            </a:r>
            <a:r>
              <a:rPr lang="en-IN" dirty="0"/>
              <a:t> → Core programming language for analysis.</a:t>
            </a:r>
          </a:p>
          <a:p>
            <a:pPr lvl="0"/>
            <a:r>
              <a:rPr lang="en-IN" b="1" dirty="0"/>
              <a:t>Pandas</a:t>
            </a:r>
            <a:r>
              <a:rPr lang="en-IN" dirty="0"/>
              <a:t> → Data loading, cleaning, and manipulation.</a:t>
            </a:r>
          </a:p>
          <a:p>
            <a:pPr lvl="0"/>
            <a:r>
              <a:rPr lang="en-IN" b="1" dirty="0"/>
              <a:t>NumPy</a:t>
            </a:r>
            <a:r>
              <a:rPr lang="en-IN" dirty="0"/>
              <a:t> → Numerical computations and statistical measures.</a:t>
            </a:r>
          </a:p>
          <a:p>
            <a:pPr lvl="0"/>
            <a:r>
              <a:rPr lang="en-IN" b="1" dirty="0"/>
              <a:t>Matplotlib</a:t>
            </a:r>
            <a:r>
              <a:rPr lang="en-IN" dirty="0"/>
              <a:t> → Basic plotting and visualizations.</a:t>
            </a:r>
          </a:p>
          <a:p>
            <a:pPr lvl="0"/>
            <a:r>
              <a:rPr lang="en-IN" b="1" dirty="0"/>
              <a:t>Seaborn</a:t>
            </a:r>
            <a:r>
              <a:rPr lang="en-IN" dirty="0"/>
              <a:t> → Advanced statistical plots (</a:t>
            </a:r>
            <a:r>
              <a:rPr lang="en-IN" dirty="0" err="1"/>
              <a:t>countplots</a:t>
            </a:r>
            <a:r>
              <a:rPr lang="en-IN" dirty="0"/>
              <a:t>, boxplots, heatmaps, scatter plots).</a:t>
            </a:r>
          </a:p>
          <a:p>
            <a:pPr lvl="0"/>
            <a:r>
              <a:rPr lang="en-IN" b="1" dirty="0"/>
              <a:t>Google </a:t>
            </a:r>
            <a:r>
              <a:rPr lang="en-IN" b="1" dirty="0" err="1"/>
              <a:t>Colab</a:t>
            </a:r>
            <a:r>
              <a:rPr lang="en-IN" dirty="0"/>
              <a:t> → Interactive environment for coding, visualization, and documentation.</a:t>
            </a:r>
          </a:p>
          <a:p>
            <a:pPr lvl="0"/>
            <a:r>
              <a:rPr lang="en-IN" b="1" dirty="0"/>
              <a:t>Data Visualization Techniques</a:t>
            </a:r>
            <a:r>
              <a:rPr lang="en-IN" dirty="0"/>
              <a:t> → count plots, Histograms, box plots, scatter plots, heatmaps for insights.</a:t>
            </a:r>
          </a:p>
          <a:p>
            <a:pPr lvl="0"/>
            <a:r>
              <a:rPr lang="en-IN" b="1" dirty="0"/>
              <a:t>Statistical Analysis</a:t>
            </a:r>
            <a:r>
              <a:rPr lang="en-IN" dirty="0"/>
              <a:t> → Descriptive statistics, correlation analysis, and trend identification.</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587725" y="160977"/>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The image shows a table from a pandas DataFrame displaying agricultural data, including farm IDs, state and district names, crop types, seasons, weather metrics, seed quality scores, and crop yields.&#10;&#10;AI-generated content may be incorrect.">
            <a:extLst>
              <a:ext uri="{FF2B5EF4-FFF2-40B4-BE49-F238E27FC236}">
                <a16:creationId xmlns:a16="http://schemas.microsoft.com/office/drawing/2014/main" id="{2E7D2E14-565D-1271-7D2E-9EDD30ED7EA2}"/>
              </a:ext>
            </a:extLst>
          </p:cNvPr>
          <p:cNvPicPr>
            <a:picLocks noChangeAspect="1"/>
          </p:cNvPicPr>
          <p:nvPr/>
        </p:nvPicPr>
        <p:blipFill>
          <a:blip r:embed="rId3"/>
          <a:stretch>
            <a:fillRect/>
          </a:stretch>
        </p:blipFill>
        <p:spPr>
          <a:xfrm>
            <a:off x="0" y="791764"/>
            <a:ext cx="6817757" cy="2060291"/>
          </a:xfrm>
          <a:prstGeom prst="rect">
            <a:avLst/>
          </a:prstGeom>
        </p:spPr>
      </p:pic>
      <p:pic>
        <p:nvPicPr>
          <p:cNvPr id="9" name="Picture 8" descr="The image displays a Pandas DataFrame with 4,000 rows and 28 columns, detailing various agricultural data points like weather, soil conditions, and crop yield.&#10;&#10;AI-generated content may be incorrect.">
            <a:extLst>
              <a:ext uri="{FF2B5EF4-FFF2-40B4-BE49-F238E27FC236}">
                <a16:creationId xmlns:a16="http://schemas.microsoft.com/office/drawing/2014/main" id="{ABD5A5EB-6503-4050-FD84-D7573086A3D7}"/>
              </a:ext>
            </a:extLst>
          </p:cNvPr>
          <p:cNvPicPr>
            <a:picLocks noChangeAspect="1"/>
          </p:cNvPicPr>
          <p:nvPr/>
        </p:nvPicPr>
        <p:blipFill>
          <a:blip r:embed="rId4"/>
          <a:stretch>
            <a:fillRect/>
          </a:stretch>
        </p:blipFill>
        <p:spPr>
          <a:xfrm>
            <a:off x="849236" y="2657807"/>
            <a:ext cx="5119284" cy="4200193"/>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descr="A data frame showing the number of missing values in various columns, followed by a code snippet that imputes missing values with the median and verifies the absence of missing data.&#10;&#10;AI-generated content may be incorrect.">
            <a:extLst>
              <a:ext uri="{FF2B5EF4-FFF2-40B4-BE49-F238E27FC236}">
                <a16:creationId xmlns:a16="http://schemas.microsoft.com/office/drawing/2014/main" id="{C3C075FB-C599-B986-CA2F-A43DD8E315F1}"/>
              </a:ext>
            </a:extLst>
          </p:cNvPr>
          <p:cNvPicPr>
            <a:picLocks noChangeAspect="1"/>
          </p:cNvPicPr>
          <p:nvPr/>
        </p:nvPicPr>
        <p:blipFill>
          <a:blip r:embed="rId3"/>
          <a:stretch>
            <a:fillRect/>
          </a:stretch>
        </p:blipFill>
        <p:spPr>
          <a:xfrm>
            <a:off x="403243" y="1070563"/>
            <a:ext cx="6887896" cy="3492240"/>
          </a:xfrm>
          <a:prstGeom prst="rect">
            <a:avLst/>
          </a:prstGeom>
        </p:spPr>
      </p:pic>
      <p:pic>
        <p:nvPicPr>
          <p:cNvPr id="12" name="Picture 11" descr="The image shows a data table with 8 rows and 22 columns, displaying statistics for various agricultural factors such as farm area, rainfall, temperature, humidity, soil properties, and others.&#10;&#10;AI-generated content may be incorrect.">
            <a:extLst>
              <a:ext uri="{FF2B5EF4-FFF2-40B4-BE49-F238E27FC236}">
                <a16:creationId xmlns:a16="http://schemas.microsoft.com/office/drawing/2014/main" id="{548C1068-DE39-1590-53FF-9EE00CD04AA2}"/>
              </a:ext>
            </a:extLst>
          </p:cNvPr>
          <p:cNvPicPr>
            <a:picLocks noChangeAspect="1"/>
          </p:cNvPicPr>
          <p:nvPr/>
        </p:nvPicPr>
        <p:blipFill>
          <a:blip r:embed="rId4"/>
          <a:stretch>
            <a:fillRect/>
          </a:stretch>
        </p:blipFill>
        <p:spPr>
          <a:xfrm>
            <a:off x="403242" y="4636587"/>
            <a:ext cx="8048845" cy="2165265"/>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E0B2577B-5218-97A9-1584-897608A409C7}"/>
              </a:ext>
            </a:extLst>
          </p:cNvPr>
          <p:cNvSpPr>
            <a:spLocks noGrp="1"/>
          </p:cNvSpPr>
          <p:nvPr>
            <p:ph type="body" sz="quarter" idx="12"/>
          </p:nvPr>
        </p:nvSpPr>
        <p:spPr/>
        <p:txBody>
          <a:bodyPr/>
          <a:lstStyle/>
          <a:p>
            <a:endParaRPr lang="en-IN"/>
          </a:p>
        </p:txBody>
      </p:sp>
      <p:pic>
        <p:nvPicPr>
          <p:cNvPr id="9" name="Picture 8" descr="The image displays a bar chart depicting the distribution of different seasons, with counts for seasons like Kharif and Zaid.&#10;&#10;AI-generated content may be incorrect.">
            <a:extLst>
              <a:ext uri="{FF2B5EF4-FFF2-40B4-BE49-F238E27FC236}">
                <a16:creationId xmlns:a16="http://schemas.microsoft.com/office/drawing/2014/main" id="{30C2D9F7-FEE6-E68A-2977-EE8FCFF1797E}"/>
              </a:ext>
            </a:extLst>
          </p:cNvPr>
          <p:cNvPicPr>
            <a:picLocks noChangeAspect="1"/>
          </p:cNvPicPr>
          <p:nvPr/>
        </p:nvPicPr>
        <p:blipFill>
          <a:blip r:embed="rId3"/>
          <a:stretch>
            <a:fillRect/>
          </a:stretch>
        </p:blipFill>
        <p:spPr>
          <a:xfrm>
            <a:off x="0" y="1252537"/>
            <a:ext cx="6215324" cy="5160399"/>
          </a:xfrm>
          <a:prstGeom prst="rect">
            <a:avLst/>
          </a:prstGeom>
        </p:spPr>
      </p:pic>
      <p:pic>
        <p:nvPicPr>
          <p:cNvPr id="12" name="Picture 11" descr="The image shows a bar chart depicting the distribution of various crop types, with the number of occurrences on the y-axis.&#10;&#10;AI-generated content may be incorrect.">
            <a:extLst>
              <a:ext uri="{FF2B5EF4-FFF2-40B4-BE49-F238E27FC236}">
                <a16:creationId xmlns:a16="http://schemas.microsoft.com/office/drawing/2014/main" id="{F6D6D6D9-01C1-0D50-9CA8-7C34791CAFE3}"/>
              </a:ext>
            </a:extLst>
          </p:cNvPr>
          <p:cNvPicPr>
            <a:picLocks noChangeAspect="1"/>
          </p:cNvPicPr>
          <p:nvPr/>
        </p:nvPicPr>
        <p:blipFill>
          <a:blip r:embed="rId4"/>
          <a:stretch>
            <a:fillRect/>
          </a:stretch>
        </p:blipFill>
        <p:spPr>
          <a:xfrm>
            <a:off x="6294220" y="1434723"/>
            <a:ext cx="5824458" cy="5037197"/>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A heatmap displaying the correlation coefficients between various numerical features of a dataset, with values ranging from -0.8 to 0.96.&#10;&#10;AI-generated content may be incorrect.">
            <a:extLst>
              <a:ext uri="{FF2B5EF4-FFF2-40B4-BE49-F238E27FC236}">
                <a16:creationId xmlns:a16="http://schemas.microsoft.com/office/drawing/2014/main" id="{0CBDFC21-BBC5-2192-295F-62FC271E245A}"/>
              </a:ext>
            </a:extLst>
          </p:cNvPr>
          <p:cNvPicPr>
            <a:picLocks noChangeAspect="1"/>
          </p:cNvPicPr>
          <p:nvPr/>
        </p:nvPicPr>
        <p:blipFill>
          <a:blip r:embed="rId3"/>
          <a:stretch>
            <a:fillRect/>
          </a:stretch>
        </p:blipFill>
        <p:spPr>
          <a:xfrm>
            <a:off x="1747519" y="1104401"/>
            <a:ext cx="8580864" cy="5753599"/>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descr="The image is a boxplot showing the distribution of crop yields (in tonnes per hectare) for different types of crops.&#10;&#10;AI-generated content may be incorrect.">
            <a:extLst>
              <a:ext uri="{FF2B5EF4-FFF2-40B4-BE49-F238E27FC236}">
                <a16:creationId xmlns:a16="http://schemas.microsoft.com/office/drawing/2014/main" id="{F057F923-826E-337F-D175-F6079B0C869D}"/>
              </a:ext>
            </a:extLst>
          </p:cNvPr>
          <p:cNvPicPr>
            <a:picLocks noChangeAspect="1"/>
          </p:cNvPicPr>
          <p:nvPr/>
        </p:nvPicPr>
        <p:blipFill>
          <a:blip r:embed="rId3"/>
          <a:stretch>
            <a:fillRect/>
          </a:stretch>
        </p:blipFill>
        <p:spPr>
          <a:xfrm>
            <a:off x="73874" y="1128862"/>
            <a:ext cx="6151220" cy="5536098"/>
          </a:xfrm>
          <a:prstGeom prst="rect">
            <a:avLst/>
          </a:prstGeom>
        </p:spPr>
      </p:pic>
      <p:pic>
        <p:nvPicPr>
          <p:cNvPr id="12" name="Picture 11" descr="The image is a box plot illustrating the distribution of profits for various crop types, such as wheat, rice, maize, and others, with the profits displayed in Indian Rupees (INR).&#10;&#10;AI-generated content may be incorrect.">
            <a:extLst>
              <a:ext uri="{FF2B5EF4-FFF2-40B4-BE49-F238E27FC236}">
                <a16:creationId xmlns:a16="http://schemas.microsoft.com/office/drawing/2014/main" id="{40CE2243-1B32-FCDD-57A0-4542EC504231}"/>
              </a:ext>
            </a:extLst>
          </p:cNvPr>
          <p:cNvPicPr>
            <a:picLocks noChangeAspect="1"/>
          </p:cNvPicPr>
          <p:nvPr/>
        </p:nvPicPr>
        <p:blipFill>
          <a:blip r:embed="rId4"/>
          <a:stretch>
            <a:fillRect/>
          </a:stretch>
        </p:blipFill>
        <p:spPr>
          <a:xfrm>
            <a:off x="6151220" y="1275371"/>
            <a:ext cx="5966906" cy="5524706"/>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21292-B32A-F6F7-98AD-F76CA7DD94D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D85591A-CF82-89AD-06E1-E49FB371125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A2C9774-69A7-CA3C-97E9-01EA2EC7540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741A587-423F-F0BF-73A9-27BA365CDD4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1F8D1E8-3323-A3C2-9836-0C9D5CB5DF8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The image is a scatter plot showing the correlation between rainfall (in mm) and crop yield (in tonnes per hectare).&#10;&#10;AI-generated content may be incorrect.">
            <a:extLst>
              <a:ext uri="{FF2B5EF4-FFF2-40B4-BE49-F238E27FC236}">
                <a16:creationId xmlns:a16="http://schemas.microsoft.com/office/drawing/2014/main" id="{89EA9199-1727-E9A2-D992-8FB9D3B5D1AA}"/>
              </a:ext>
            </a:extLst>
          </p:cNvPr>
          <p:cNvPicPr>
            <a:picLocks noChangeAspect="1"/>
          </p:cNvPicPr>
          <p:nvPr/>
        </p:nvPicPr>
        <p:blipFill>
          <a:blip r:embed="rId3"/>
          <a:stretch>
            <a:fillRect/>
          </a:stretch>
        </p:blipFill>
        <p:spPr>
          <a:xfrm>
            <a:off x="0" y="1466842"/>
            <a:ext cx="5984915" cy="4845725"/>
          </a:xfrm>
          <a:prstGeom prst="rect">
            <a:avLst/>
          </a:prstGeom>
        </p:spPr>
      </p:pic>
      <p:pic>
        <p:nvPicPr>
          <p:cNvPr id="10" name="Picture 9" descr="The image displays a scatter plot illustrating the correlation between rainfall (mm) and profit (INR), with data points plotted on a grid.&#10;&#10;AI-generated content may be incorrect.">
            <a:extLst>
              <a:ext uri="{FF2B5EF4-FFF2-40B4-BE49-F238E27FC236}">
                <a16:creationId xmlns:a16="http://schemas.microsoft.com/office/drawing/2014/main" id="{97C6486A-3BB1-E64E-525D-A22C9C0CF859}"/>
              </a:ext>
            </a:extLst>
          </p:cNvPr>
          <p:cNvPicPr>
            <a:picLocks noChangeAspect="1"/>
          </p:cNvPicPr>
          <p:nvPr/>
        </p:nvPicPr>
        <p:blipFill>
          <a:blip r:embed="rId4"/>
          <a:stretch>
            <a:fillRect/>
          </a:stretch>
        </p:blipFill>
        <p:spPr>
          <a:xfrm>
            <a:off x="5956909" y="1466843"/>
            <a:ext cx="6081354" cy="4917915"/>
          </a:xfrm>
          <a:prstGeom prst="rect">
            <a:avLst/>
          </a:prstGeom>
        </p:spPr>
      </p:pic>
    </p:spTree>
    <p:extLst>
      <p:ext uri="{BB962C8B-B14F-4D97-AF65-F5344CB8AC3E}">
        <p14:creationId xmlns:p14="http://schemas.microsoft.com/office/powerpoint/2010/main" val="3586998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D7BB9-0550-AC53-934F-B897113D651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A9D1E5F-AF34-DC64-5C60-CA952D6F3B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D837EBC-E787-824B-E530-481F3CB7D923}"/>
              </a:ext>
            </a:extLst>
          </p:cNvPr>
          <p:cNvSpPr>
            <a:spLocks noGrp="1"/>
          </p:cNvSpPr>
          <p:nvPr>
            <p:ph type="title"/>
          </p:nvPr>
        </p:nvSpPr>
        <p:spPr>
          <a:xfrm>
            <a:off x="740125" y="15514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634DA42-788C-D982-28DE-A8868331B1F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BFC3707-8AFB-F299-96B1-F5D12DFBDA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descr="This image is a scatter plot showing the relationship between average temperature (in Celsius) and crop yield (in tonnes per hectare).&#10;&#10;AI-generated content may be incorrect.">
            <a:extLst>
              <a:ext uri="{FF2B5EF4-FFF2-40B4-BE49-F238E27FC236}">
                <a16:creationId xmlns:a16="http://schemas.microsoft.com/office/drawing/2014/main" id="{C993F744-3057-1178-ECF1-57E930D1DE2C}"/>
              </a:ext>
            </a:extLst>
          </p:cNvPr>
          <p:cNvPicPr>
            <a:picLocks noChangeAspect="1"/>
          </p:cNvPicPr>
          <p:nvPr/>
        </p:nvPicPr>
        <p:blipFill>
          <a:blip r:embed="rId3"/>
          <a:stretch>
            <a:fillRect/>
          </a:stretch>
        </p:blipFill>
        <p:spPr>
          <a:xfrm>
            <a:off x="1" y="1692442"/>
            <a:ext cx="6057380" cy="4610605"/>
          </a:xfrm>
          <a:prstGeom prst="rect">
            <a:avLst/>
          </a:prstGeom>
        </p:spPr>
      </p:pic>
      <p:pic>
        <p:nvPicPr>
          <p:cNvPr id="11" name="Picture 10" descr="The image is a scatter plot showing the correlation between humidity percentage and crop yield in tonnes per hectare.&#10;&#10;AI-generated content may be incorrect.">
            <a:extLst>
              <a:ext uri="{FF2B5EF4-FFF2-40B4-BE49-F238E27FC236}">
                <a16:creationId xmlns:a16="http://schemas.microsoft.com/office/drawing/2014/main" id="{82F211BE-AC3B-C4FE-BD73-6F9AD43F89DE}"/>
              </a:ext>
            </a:extLst>
          </p:cNvPr>
          <p:cNvPicPr>
            <a:picLocks noChangeAspect="1"/>
          </p:cNvPicPr>
          <p:nvPr/>
        </p:nvPicPr>
        <p:blipFill>
          <a:blip r:embed="rId4"/>
          <a:stretch>
            <a:fillRect/>
          </a:stretch>
        </p:blipFill>
        <p:spPr>
          <a:xfrm>
            <a:off x="5952282" y="1602728"/>
            <a:ext cx="6239718" cy="4773827"/>
          </a:xfrm>
          <a:prstGeom prst="rect">
            <a:avLst/>
          </a:prstGeom>
        </p:spPr>
      </p:pic>
    </p:spTree>
    <p:extLst>
      <p:ext uri="{BB962C8B-B14F-4D97-AF65-F5344CB8AC3E}">
        <p14:creationId xmlns:p14="http://schemas.microsoft.com/office/powerpoint/2010/main" val="1313193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79F79-4E40-747A-6967-D35C5A4A6E4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7AE3097-3AF6-9830-8E14-7D96A3CB6E2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5BF807D-2DE1-102F-AE6A-71B040D3B1D4}"/>
              </a:ext>
            </a:extLst>
          </p:cNvPr>
          <p:cNvSpPr>
            <a:spLocks noGrp="1"/>
          </p:cNvSpPr>
          <p:nvPr>
            <p:ph type="title"/>
          </p:nvPr>
        </p:nvSpPr>
        <p:spPr>
          <a:xfrm>
            <a:off x="740125" y="15514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7FF57B0-674A-FAF2-A8D2-9DE8C9C966BD}"/>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34963B7-2F2C-A38E-13AD-20785FDA6FE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The diagram is a scatter plot showing a positive correlation between the amount of fertilizer used per hectare (kg/ha) and the resulting crop yield (Tonnes/Ha).&#10;&#10;AI-generated content may be incorrect.">
            <a:extLst>
              <a:ext uri="{FF2B5EF4-FFF2-40B4-BE49-F238E27FC236}">
                <a16:creationId xmlns:a16="http://schemas.microsoft.com/office/drawing/2014/main" id="{1A035274-ED29-5F5F-84C1-CB7F01045C4B}"/>
              </a:ext>
            </a:extLst>
          </p:cNvPr>
          <p:cNvPicPr>
            <a:picLocks noChangeAspect="1"/>
          </p:cNvPicPr>
          <p:nvPr/>
        </p:nvPicPr>
        <p:blipFill>
          <a:blip r:embed="rId3"/>
          <a:stretch>
            <a:fillRect/>
          </a:stretch>
        </p:blipFill>
        <p:spPr>
          <a:xfrm>
            <a:off x="72188" y="1832328"/>
            <a:ext cx="6296209" cy="4639591"/>
          </a:xfrm>
          <a:prstGeom prst="rect">
            <a:avLst/>
          </a:prstGeom>
        </p:spPr>
      </p:pic>
      <p:pic>
        <p:nvPicPr>
          <p:cNvPr id="10" name="Picture 9" descr="The image is a scatter plot showing a negative correlation between the amount of pesticide used (in litres per hectare) and crop yield (in tonnes per hectare).&#10;&#10;AI-generated content may be incorrect.">
            <a:extLst>
              <a:ext uri="{FF2B5EF4-FFF2-40B4-BE49-F238E27FC236}">
                <a16:creationId xmlns:a16="http://schemas.microsoft.com/office/drawing/2014/main" id="{CB19AC85-BA4E-02B1-C756-609E8CDE18E4}"/>
              </a:ext>
            </a:extLst>
          </p:cNvPr>
          <p:cNvPicPr>
            <a:picLocks noChangeAspect="1"/>
          </p:cNvPicPr>
          <p:nvPr/>
        </p:nvPicPr>
        <p:blipFill>
          <a:blip r:embed="rId4"/>
          <a:stretch>
            <a:fillRect/>
          </a:stretch>
        </p:blipFill>
        <p:spPr>
          <a:xfrm>
            <a:off x="6222353" y="1693716"/>
            <a:ext cx="5969647" cy="4586057"/>
          </a:xfrm>
          <a:prstGeom prst="rect">
            <a:avLst/>
          </a:prstGeom>
        </p:spPr>
      </p:pic>
    </p:spTree>
    <p:extLst>
      <p:ext uri="{BB962C8B-B14F-4D97-AF65-F5344CB8AC3E}">
        <p14:creationId xmlns:p14="http://schemas.microsoft.com/office/powerpoint/2010/main" val="3071934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010F9-3566-16A2-8017-9A6F4C2599B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FEFAC6C-E726-1629-014D-0820B270592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50DF2C4-254B-DDEB-49F2-AB1C2E5AF45A}"/>
              </a:ext>
            </a:extLst>
          </p:cNvPr>
          <p:cNvSpPr>
            <a:spLocks noGrp="1"/>
          </p:cNvSpPr>
          <p:nvPr>
            <p:ph type="title"/>
          </p:nvPr>
        </p:nvSpPr>
        <p:spPr>
          <a:xfrm>
            <a:off x="740125" y="15514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D75E655-2B20-E6A7-C7B6-BBE99CD6193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F2950FA-C2DB-EC0C-81BC-11A35DE2784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descr="This image is a scatter plot displaying a positive correlation between Seed Quality Score and Crop Yield, with the scores on the x-axis and tonnes per hectare on the y-axis.&#10;&#10;AI-generated content may be incorrect.">
            <a:extLst>
              <a:ext uri="{FF2B5EF4-FFF2-40B4-BE49-F238E27FC236}">
                <a16:creationId xmlns:a16="http://schemas.microsoft.com/office/drawing/2014/main" id="{8966D140-5118-142D-5033-F7CF3877553E}"/>
              </a:ext>
            </a:extLst>
          </p:cNvPr>
          <p:cNvPicPr>
            <a:picLocks noChangeAspect="1"/>
          </p:cNvPicPr>
          <p:nvPr/>
        </p:nvPicPr>
        <p:blipFill>
          <a:blip r:embed="rId3"/>
          <a:stretch>
            <a:fillRect/>
          </a:stretch>
        </p:blipFill>
        <p:spPr>
          <a:xfrm>
            <a:off x="0" y="2007975"/>
            <a:ext cx="5756981" cy="4397418"/>
          </a:xfrm>
          <a:prstGeom prst="rect">
            <a:avLst/>
          </a:prstGeom>
        </p:spPr>
      </p:pic>
      <p:pic>
        <p:nvPicPr>
          <p:cNvPr id="11" name="Picture 10" descr="The image is a box plot showing the distribution of crop yields (in tonnes per hectare) across different seasons (Kharif, Rabi, Zaid).&#10;&#10;AI-generated content may be incorrect.">
            <a:extLst>
              <a:ext uri="{FF2B5EF4-FFF2-40B4-BE49-F238E27FC236}">
                <a16:creationId xmlns:a16="http://schemas.microsoft.com/office/drawing/2014/main" id="{8859F35E-FC40-B4E7-F195-AF48F91DD336}"/>
              </a:ext>
            </a:extLst>
          </p:cNvPr>
          <p:cNvPicPr>
            <a:picLocks noChangeAspect="1"/>
          </p:cNvPicPr>
          <p:nvPr/>
        </p:nvPicPr>
        <p:blipFill>
          <a:blip r:embed="rId4"/>
          <a:stretch>
            <a:fillRect/>
          </a:stretch>
        </p:blipFill>
        <p:spPr>
          <a:xfrm>
            <a:off x="6095999" y="1796716"/>
            <a:ext cx="6050510" cy="5061284"/>
          </a:xfrm>
          <a:prstGeom prst="rect">
            <a:avLst/>
          </a:prstGeom>
        </p:spPr>
      </p:pic>
    </p:spTree>
    <p:extLst>
      <p:ext uri="{BB962C8B-B14F-4D97-AF65-F5344CB8AC3E}">
        <p14:creationId xmlns:p14="http://schemas.microsoft.com/office/powerpoint/2010/main" val="3233854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14616A1F-E65E-6445-B158-205303839538}"/>
              </a:ext>
            </a:extLst>
          </p:cNvPr>
          <p:cNvSpPr txBox="1"/>
          <p:nvPr/>
        </p:nvSpPr>
        <p:spPr>
          <a:xfrm>
            <a:off x="745958" y="2179374"/>
            <a:ext cx="8799095" cy="3416320"/>
          </a:xfrm>
          <a:prstGeom prst="rect">
            <a:avLst/>
          </a:prstGeom>
          <a:noFill/>
        </p:spPr>
        <p:txBody>
          <a:bodyPr wrap="square" rtlCol="0">
            <a:spAutoFit/>
          </a:bodyPr>
          <a:lstStyle/>
          <a:p>
            <a:pPr lvl="0"/>
            <a:r>
              <a:rPr lang="en-IN" b="1" dirty="0"/>
              <a:t>Segmentation Analysis - </a:t>
            </a:r>
            <a:r>
              <a:rPr lang="en-IN" dirty="0"/>
              <a:t>Deeper insights by </a:t>
            </a:r>
            <a:r>
              <a:rPr lang="en-IN" dirty="0" err="1"/>
              <a:t>analyzing</a:t>
            </a:r>
            <a:r>
              <a:rPr lang="en-IN" dirty="0"/>
              <a:t> season × crop × region combinations.</a:t>
            </a:r>
          </a:p>
          <a:p>
            <a:pPr lvl="0"/>
            <a:r>
              <a:rPr lang="en-IN" b="1" dirty="0"/>
              <a:t>Predictive </a:t>
            </a:r>
            <a:r>
              <a:rPr lang="en-IN" b="1" dirty="0" err="1"/>
              <a:t>Modeling</a:t>
            </a:r>
            <a:r>
              <a:rPr lang="en-IN" b="1" dirty="0"/>
              <a:t> - </a:t>
            </a:r>
            <a:r>
              <a:rPr lang="en-IN" dirty="0"/>
              <a:t>Use machine learning to forecast yields, profits, and resource needs.</a:t>
            </a:r>
          </a:p>
          <a:p>
            <a:pPr lvl="0"/>
            <a:r>
              <a:rPr lang="en-IN" b="1" dirty="0"/>
              <a:t>Optimization Studies - </a:t>
            </a:r>
            <a:r>
              <a:rPr lang="en-IN" dirty="0"/>
              <a:t>Explore best crop-resource combinations for sustainable profitability.</a:t>
            </a:r>
          </a:p>
          <a:p>
            <a:pPr lvl="0"/>
            <a:r>
              <a:rPr lang="en-IN" b="1" dirty="0"/>
              <a:t>Policy Applications - </a:t>
            </a:r>
            <a:r>
              <a:rPr lang="en-IN" dirty="0"/>
              <a:t>Provide data-driven recommendations for government support programs.</a:t>
            </a:r>
          </a:p>
          <a:p>
            <a:pPr lvl="0"/>
            <a:r>
              <a:rPr lang="en-IN" b="1" dirty="0"/>
              <a:t>Scalability - </a:t>
            </a:r>
            <a:r>
              <a:rPr lang="en-IN" dirty="0"/>
              <a:t>Extend analysis to larger datasets across multiple states and years.</a:t>
            </a:r>
          </a:p>
          <a:p>
            <a:pPr lvl="0"/>
            <a:r>
              <a:rPr lang="en-IN" b="1" dirty="0"/>
              <a:t>Integration - </a:t>
            </a:r>
            <a:r>
              <a:rPr lang="en-IN" dirty="0"/>
              <a:t>Combine with satellite/weather data for real-time agricultural decision-making.</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7820386" cy="666078"/>
          </a:xfrm>
          <a:prstGeom prst="rect">
            <a:avLst/>
          </a:prstGeom>
        </p:spPr>
        <p:txBody>
          <a:bodyPr vert="horz" lIns="91440" tIns="45720" rIns="91440" bIns="45720" rtlCol="0">
            <a:normAutofit fontScale="92500"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sz="2000" dirty="0">
                <a:hlinkClick r:id="rId3"/>
              </a:rPr>
              <a:t>https://github.com/KushalPanchal1212/CAR-DEKHO-USED-CAR-DATA-ANALYSIS-PROJECT.git</a:t>
            </a:r>
            <a:endParaRPr lang="en-GB" sz="2000" dirty="0"/>
          </a:p>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A certificate presented to Kushal Panchal for completing a course on Data Visualization at Vodafone Idea Foundation, dated August 16, 2026.&#10;&#10;AI-generated content may be incorrect.">
            <a:extLst>
              <a:ext uri="{FF2B5EF4-FFF2-40B4-BE49-F238E27FC236}">
                <a16:creationId xmlns:a16="http://schemas.microsoft.com/office/drawing/2014/main" id="{F9AD3797-7736-BB7F-D999-C342BE2D8BE1}"/>
              </a:ext>
            </a:extLst>
          </p:cNvPr>
          <p:cNvPicPr>
            <a:picLocks noChangeAspect="1"/>
          </p:cNvPicPr>
          <p:nvPr/>
        </p:nvPicPr>
        <p:blipFill>
          <a:blip r:embed="rId3"/>
          <a:stretch>
            <a:fillRect/>
          </a:stretch>
        </p:blipFill>
        <p:spPr>
          <a:xfrm>
            <a:off x="1615104" y="1513621"/>
            <a:ext cx="7280243" cy="5137709"/>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1496</TotalTime>
  <Words>577</Words>
  <Application>Microsoft Office PowerPoint</Application>
  <PresentationFormat>Widescreen</PresentationFormat>
  <Paragraphs>46</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Trebuchet MS</vt:lpstr>
      <vt:lpstr>Wingdings</vt:lpstr>
      <vt:lpstr>Wingdings 3</vt:lpstr>
      <vt:lpstr>Facet</vt:lpstr>
      <vt:lpstr>Project Title - Seasonal Agriculture Performance Analysis -  A Data-Driven Approach</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Kushal Panchal</cp:lastModifiedBy>
  <cp:revision>100</cp:revision>
  <dcterms:created xsi:type="dcterms:W3CDTF">2021-07-11T13:13:15Z</dcterms:created>
  <dcterms:modified xsi:type="dcterms:W3CDTF">2026-09-10T12:09:24Z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